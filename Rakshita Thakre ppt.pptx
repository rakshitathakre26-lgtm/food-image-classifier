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9"/>
  </p:notesMasterIdLst>
  <p:sldIdLst>
    <p:sldId id="256" r:id="rId5"/>
    <p:sldId id="2146847054" r:id="rId6"/>
    <p:sldId id="262" r:id="rId7"/>
    <p:sldId id="263" r:id="rId8"/>
    <p:sldId id="265" r:id="rId9"/>
    <p:sldId id="2146847057" r:id="rId10"/>
    <p:sldId id="266" r:id="rId11"/>
    <p:sldId id="267" r:id="rId12"/>
    <p:sldId id="2146847058" r:id="rId13"/>
    <p:sldId id="268" r:id="rId14"/>
    <p:sldId id="2146847055" r:id="rId15"/>
    <p:sldId id="269" r:id="rId16"/>
    <p:sldId id="2146847056"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EC2134-FE55-D600-31C0-C82AB450B7AA}" v="39" dt="2026-08-09T17:41:19.1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291" autoAdjust="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9/9/2026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9/9/2026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9/9/2026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9/9/2026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9/9/2026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9/9/2026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9/9/2026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9/9/2026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9/9/2026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9/9/2026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9/9/2026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9/9/2026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food-image-classifier-5cmqo6lycilahbdnjet4pg.streamlit.app/" TargetMode="External"/><Relationship Id="rId2" Type="http://schemas.openxmlformats.org/officeDocument/2006/relationships/hyperlink" Target="https://github.com/rakshitathakre26-lgtm/food-image-classifier.gi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Food Image Classification Using Generative AI</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Name-Rakshita Thakre</a:t>
            </a:r>
          </a:p>
          <a:p>
            <a:pPr marL="457200" indent="-457200">
              <a:buAutoNum type="arabicPeriod"/>
            </a:pPr>
            <a:r>
              <a:rPr lang="en-US" sz="2000" b="1" dirty="0">
                <a:solidFill>
                  <a:schemeClr val="accent1">
                    <a:lumMod val="75000"/>
                  </a:schemeClr>
                </a:solidFill>
                <a:latin typeface="Arial"/>
                <a:cs typeface="Arial"/>
              </a:rPr>
              <a:t>College Name-Hislop College</a:t>
            </a:r>
          </a:p>
          <a:p>
            <a:pPr marL="457200" indent="-457200">
              <a:buAutoNum type="arabicPeriod"/>
            </a:pPr>
            <a:r>
              <a:rPr lang="en-US" sz="2000" b="1" dirty="0">
                <a:solidFill>
                  <a:schemeClr val="accent1">
                    <a:lumMod val="75000"/>
                  </a:schemeClr>
                </a:solidFill>
                <a:latin typeface="Arial"/>
                <a:cs typeface="Arial"/>
              </a:rPr>
              <a:t>Department –Data Science &amp; AI</a:t>
            </a:r>
          </a:p>
          <a:p>
            <a:r>
              <a:rPr lang="en-US" sz="2000" b="1" dirty="0">
                <a:solidFill>
                  <a:schemeClr val="accent1">
                    <a:lumMod val="75000"/>
                  </a:schemeClr>
                </a:solidFill>
                <a:latin typeface="Arial"/>
                <a:cs typeface="Arial"/>
              </a:rPr>
              <a:t>4.   AICTE ID-STU6a6485d2aa6c51784972754</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692177" y="558469"/>
            <a:ext cx="10672996" cy="869430"/>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692177" y="1618938"/>
            <a:ext cx="10672996" cy="5006714"/>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 Problem Statement (Should not include solution)</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buNone/>
            </a:pPr>
            <a:r>
              <a:rPr lang="en-US" sz="3600" dirty="0"/>
              <a:t>Identifying food items from images manually can be time-consuming and difficult, especially when the food item is unfamiliar. The project aims to develop an AI-based system that can identify and classify food items from uploaded images.</a:t>
            </a:r>
            <a:endParaRPr lang="en-IN" sz="36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200" b="1" dirty="0">
              <a:latin typeface="Calibri"/>
              <a:cs typeface="Calibri"/>
            </a:endParaRPr>
          </a:p>
          <a:p>
            <a:pPr marL="0" indent="0">
              <a:buNone/>
            </a:pPr>
            <a:endParaRPr lang="en-IN" dirty="0"/>
          </a:p>
        </p:txBody>
      </p:sp>
      <p:sp>
        <p:nvSpPr>
          <p:cNvPr id="6" name="TextBox 5">
            <a:extLst>
              <a:ext uri="{FF2B5EF4-FFF2-40B4-BE49-F238E27FC236}">
                <a16:creationId xmlns:a16="http://schemas.microsoft.com/office/drawing/2014/main" id="{33138CC4-6AFB-0C8C-E261-8F06BB1092AC}"/>
              </a:ext>
            </a:extLst>
          </p:cNvPr>
          <p:cNvSpPr txBox="1"/>
          <p:nvPr/>
        </p:nvSpPr>
        <p:spPr>
          <a:xfrm>
            <a:off x="806275" y="1463041"/>
            <a:ext cx="9983644" cy="3785652"/>
          </a:xfrm>
          <a:prstGeom prst="rect">
            <a:avLst/>
          </a:prstGeom>
          <a:noFill/>
        </p:spPr>
        <p:txBody>
          <a:bodyPr wrap="square">
            <a:spAutoFit/>
          </a:bodyPr>
          <a:lstStyle/>
          <a:p>
            <a:pPr marL="342900" indent="-342900">
              <a:buAutoNum type="arabicPeriod"/>
            </a:pPr>
            <a:r>
              <a:rPr lang="en-US" sz="2400" dirty="0"/>
              <a:t>Upload Food Image – The user uploads an image of a food item, such as pizza.</a:t>
            </a:r>
          </a:p>
          <a:p>
            <a:pPr marL="342900" indent="-342900">
              <a:buAutoNum type="arabicPeriod"/>
            </a:pPr>
            <a:r>
              <a:rPr lang="en-US" sz="2400" dirty="0"/>
              <a:t> Image Processing – The application receives and prepares the uploaded image for analysis.</a:t>
            </a:r>
          </a:p>
          <a:p>
            <a:pPr marL="342900" indent="-342900">
              <a:buAutoNum type="arabicPeriod"/>
            </a:pPr>
            <a:r>
              <a:rPr lang="en-US" sz="2400" dirty="0"/>
              <a:t> AI-Based Analysis – The image is analyzed using the Gemini AI model, which identifies the food item based on its visual features.</a:t>
            </a:r>
          </a:p>
          <a:p>
            <a:pPr marL="342900" indent="-342900">
              <a:buAutoNum type="arabicPeriod"/>
            </a:pPr>
            <a:r>
              <a:rPr lang="en-US" sz="2400" dirty="0"/>
              <a:t> Food Classification – The system predicts the most likely food category/name.</a:t>
            </a:r>
          </a:p>
          <a:p>
            <a:pPr marL="342900" indent="-342900">
              <a:buAutoNum type="arabicPeriod"/>
            </a:pPr>
            <a:r>
              <a:rPr lang="en-US" sz="2400" dirty="0"/>
              <a:t> Display Result – The predicted food name is displayed to the user through the application.</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440515" y="1330162"/>
            <a:ext cx="11029615" cy="4673324"/>
          </a:xfrm>
        </p:spPr>
        <p:txBody>
          <a:bodyPr>
            <a:normAutofit/>
          </a:bodyPr>
          <a:lstStyle/>
          <a:p>
            <a:pPr marL="0" indent="0">
              <a:buNone/>
            </a:pPr>
            <a:r>
              <a:rPr lang="en-US" sz="1600" b="1" dirty="0">
                <a:solidFill>
                  <a:srgbClr val="0F0F0F"/>
                </a:solidFill>
              </a:rPr>
              <a:t>1. User Interface</a:t>
            </a:r>
          </a:p>
          <a:p>
            <a:pPr marL="0" indent="0">
              <a:buNone/>
            </a:pPr>
            <a:r>
              <a:rPr lang="en-US" sz="1600" b="1" dirty="0">
                <a:solidFill>
                  <a:srgbClr val="0F0F0F"/>
                </a:solidFill>
              </a:rPr>
              <a:t>* </a:t>
            </a:r>
            <a:r>
              <a:rPr lang="en-US" sz="1600" b="1" dirty="0" err="1">
                <a:solidFill>
                  <a:srgbClr val="0F0F0F"/>
                </a:solidFill>
              </a:rPr>
              <a:t>Streamlit</a:t>
            </a:r>
            <a:r>
              <a:rPr lang="en-US" sz="1600" b="1" dirty="0">
                <a:solidFill>
                  <a:srgbClr val="0F0F0F"/>
                </a:solidFill>
              </a:rPr>
              <a:t> – Provides a simple web interface for uploading food images and displaying results.</a:t>
            </a:r>
          </a:p>
          <a:p>
            <a:pPr marL="0" indent="0">
              <a:buNone/>
            </a:pPr>
            <a:r>
              <a:rPr lang="en-US" sz="1600" b="1" dirty="0">
                <a:solidFill>
                  <a:srgbClr val="0F0F0F"/>
                </a:solidFill>
              </a:rPr>
              <a:t>2. Image Handling</a:t>
            </a:r>
          </a:p>
          <a:p>
            <a:pPr marL="0" indent="0">
              <a:buNone/>
            </a:pPr>
            <a:r>
              <a:rPr lang="en-US" sz="1600" b="1" dirty="0">
                <a:solidFill>
                  <a:srgbClr val="0F0F0F"/>
                </a:solidFill>
              </a:rPr>
              <a:t>* Pillow (PIL) – Used to open and process the uploaded image.</a:t>
            </a:r>
          </a:p>
          <a:p>
            <a:pPr marL="0" indent="0">
              <a:buNone/>
            </a:pPr>
            <a:r>
              <a:rPr lang="en-US" sz="1600" b="1" dirty="0">
                <a:solidFill>
                  <a:srgbClr val="0F0F0F"/>
                </a:solidFill>
              </a:rPr>
              <a:t>3. AI Model Integration</a:t>
            </a:r>
          </a:p>
          <a:p>
            <a:pPr marL="0" indent="0">
              <a:buNone/>
            </a:pPr>
            <a:r>
              <a:rPr lang="en-US" sz="1600" b="1" dirty="0">
                <a:solidFill>
                  <a:srgbClr val="0F0F0F"/>
                </a:solidFill>
              </a:rPr>
              <a:t>* Google Gemini API / Google GenAI – Sends the food image to Gemini for AI-based analysis and classification.</a:t>
            </a:r>
          </a:p>
          <a:p>
            <a:pPr marL="0" indent="0">
              <a:buNone/>
            </a:pPr>
            <a:r>
              <a:rPr lang="en-US" sz="1600" b="1" dirty="0">
                <a:solidFill>
                  <a:srgbClr val="0F0F0F"/>
                </a:solidFill>
              </a:rPr>
              <a:t>4. Application Development</a:t>
            </a:r>
          </a:p>
          <a:p>
            <a:pPr marL="0" indent="0">
              <a:buNone/>
            </a:pPr>
            <a:r>
              <a:rPr lang="en-US" sz="1600" b="1" dirty="0">
                <a:solidFill>
                  <a:srgbClr val="0F0F0F"/>
                </a:solidFill>
              </a:rPr>
              <a:t>* Python – Used to develop the application and connect all components.</a:t>
            </a:r>
          </a:p>
          <a:p>
            <a:pPr marL="0" indent="0">
              <a:buNone/>
            </a:pPr>
            <a:r>
              <a:rPr lang="en-US" sz="1600" b="1" dirty="0">
                <a:solidFill>
                  <a:srgbClr val="0F0F0F"/>
                </a:solidFill>
              </a:rPr>
              <a:t>5. Configuration &amp; Security</a:t>
            </a:r>
          </a:p>
          <a:p>
            <a:pPr marL="0" indent="0">
              <a:buNone/>
            </a:pPr>
            <a:r>
              <a:rPr lang="en-US" sz="1600" b="1" dirty="0">
                <a:solidFill>
                  <a:srgbClr val="0F0F0F"/>
                </a:solidFill>
              </a:rPr>
              <a:t>* .env / python-</a:t>
            </a:r>
            <a:r>
              <a:rPr lang="en-US" sz="1600" b="1" dirty="0" err="1">
                <a:solidFill>
                  <a:srgbClr val="0F0F0F"/>
                </a:solidFill>
              </a:rPr>
              <a:t>dotenv</a:t>
            </a:r>
            <a:r>
              <a:rPr lang="en-US" sz="1600" b="1" dirty="0">
                <a:solidFill>
                  <a:srgbClr val="0F0F0F"/>
                </a:solidFill>
              </a:rPr>
              <a:t> – Used to securely manage the Gemini API key.</a:t>
            </a:r>
          </a:p>
          <a:p>
            <a:pPr marL="0" indent="0">
              <a:buNone/>
            </a:pPr>
            <a:r>
              <a:rPr lang="en-US" sz="1600" b="1" dirty="0">
                <a:solidFill>
                  <a:srgbClr val="0F0F0F"/>
                </a:solidFill>
              </a:rPr>
              <a:t>6. Development Environment</a:t>
            </a:r>
          </a:p>
          <a:p>
            <a:pPr marL="0" indent="0">
              <a:buNone/>
            </a:pPr>
            <a:r>
              <a:rPr lang="en-US" sz="1600" b="1" dirty="0">
                <a:solidFill>
                  <a:srgbClr val="0F0F0F"/>
                </a:solidFill>
              </a:rPr>
              <a:t>* VS Code – Used to write, test, and manage the project code.</a:t>
            </a:r>
            <a:endParaRPr lang="en-IN" sz="1600"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29A87-F091-D0B9-A0B4-F4B262079268}"/>
              </a:ext>
            </a:extLst>
          </p:cNvPr>
          <p:cNvSpPr>
            <a:spLocks noGrp="1"/>
          </p:cNvSpPr>
          <p:nvPr>
            <p:ph type="title"/>
          </p:nvPr>
        </p:nvSpPr>
        <p:spPr/>
        <p:txBody>
          <a:bodyPr/>
          <a:lstStyle/>
          <a:p>
            <a:r>
              <a:rPr lang="en-US" dirty="0"/>
              <a:t> technology used</a:t>
            </a:r>
          </a:p>
        </p:txBody>
      </p:sp>
      <p:sp>
        <p:nvSpPr>
          <p:cNvPr id="3" name="Content Placeholder 2">
            <a:extLst>
              <a:ext uri="{FF2B5EF4-FFF2-40B4-BE49-F238E27FC236}">
                <a16:creationId xmlns:a16="http://schemas.microsoft.com/office/drawing/2014/main" id="{CD95A251-F065-2A29-8EDA-C96B29EEC1E8}"/>
              </a:ext>
            </a:extLst>
          </p:cNvPr>
          <p:cNvSpPr>
            <a:spLocks noGrp="1"/>
          </p:cNvSpPr>
          <p:nvPr>
            <p:ph idx="1"/>
          </p:nvPr>
        </p:nvSpPr>
        <p:spPr/>
        <p:txBody>
          <a:bodyPr>
            <a:normAutofit/>
          </a:bodyPr>
          <a:lstStyle/>
          <a:p>
            <a:pPr marL="0" indent="0">
              <a:buNone/>
            </a:pPr>
            <a:r>
              <a:rPr lang="en-US" sz="2400" dirty="0"/>
              <a:t>* Python – Core programming language used to develop the application.</a:t>
            </a:r>
          </a:p>
          <a:p>
            <a:pPr marL="0" indent="0">
              <a:buNone/>
            </a:pPr>
            <a:r>
              <a:rPr lang="en-US" sz="2400" dirty="0"/>
              <a:t>* </a:t>
            </a:r>
            <a:r>
              <a:rPr lang="en-US" sz="2400" dirty="0" err="1"/>
              <a:t>Streamlit</a:t>
            </a:r>
            <a:r>
              <a:rPr lang="en-US" sz="2400" dirty="0"/>
              <a:t> – Used to create the interactive web interface.</a:t>
            </a:r>
          </a:p>
          <a:p>
            <a:pPr marL="0" indent="0">
              <a:buNone/>
            </a:pPr>
            <a:r>
              <a:rPr lang="en-US" sz="2400" dirty="0"/>
              <a:t>* Google Gemini API – Used for AI-based analysis and identification of food images.</a:t>
            </a:r>
          </a:p>
          <a:p>
            <a:pPr marL="0" indent="0">
              <a:buNone/>
            </a:pPr>
            <a:r>
              <a:rPr lang="en-US" sz="2400" dirty="0"/>
              <a:t>* Google GenAI – Used to integrate the Gemini API with the Python application.</a:t>
            </a:r>
          </a:p>
          <a:p>
            <a:pPr marL="0" indent="0">
              <a:buNone/>
            </a:pPr>
            <a:r>
              <a:rPr lang="en-US" sz="2400" dirty="0"/>
              <a:t>* Pillow (PIL) – Used for handling and processing uploaded images.</a:t>
            </a:r>
          </a:p>
          <a:p>
            <a:pPr marL="0" indent="0">
              <a:buNone/>
            </a:pPr>
            <a:r>
              <a:rPr lang="en-US" sz="2400" dirty="0"/>
              <a:t>* python-</a:t>
            </a:r>
            <a:r>
              <a:rPr lang="en-US" sz="2400" dirty="0" err="1"/>
              <a:t>dotenv</a:t>
            </a:r>
            <a:r>
              <a:rPr lang="en-US" sz="2400" dirty="0"/>
              <a:t> – Used to securely load the Gemini API key from the .env file.</a:t>
            </a:r>
          </a:p>
          <a:p>
            <a:pPr marL="0" indent="0">
              <a:buNone/>
            </a:pPr>
            <a:r>
              <a:rPr lang="en-US" sz="2400" dirty="0"/>
              <a:t>* VS Code – Used as the development environment.</a:t>
            </a:r>
          </a:p>
          <a:p>
            <a:pPr marL="0" indent="0">
              <a:buNone/>
            </a:pPr>
            <a:r>
              <a:rPr lang="en-US" sz="2400" dirty="0"/>
              <a:t>* GitHub – Used to store and manage the project code.</a:t>
            </a:r>
          </a:p>
        </p:txBody>
      </p:sp>
    </p:spTree>
    <p:extLst>
      <p:ext uri="{BB962C8B-B14F-4D97-AF65-F5344CB8AC3E}">
        <p14:creationId xmlns:p14="http://schemas.microsoft.com/office/powerpoint/2010/main" val="705093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rmAutofit fontScale="92500" lnSpcReduction="10000"/>
          </a:bodyPr>
          <a:lstStyle/>
          <a:p>
            <a:pPr marL="0" indent="0">
              <a:buNone/>
            </a:pPr>
            <a:r>
              <a:rPr lang="en-US" dirty="0"/>
              <a:t>Algorithm</a:t>
            </a:r>
          </a:p>
          <a:p>
            <a:pPr marL="305435" indent="-305435"/>
            <a:r>
              <a:rPr lang="en-US" dirty="0"/>
              <a:t>1. Image Input: The user uploads a food image, such as a pizza photo.</a:t>
            </a:r>
          </a:p>
          <a:p>
            <a:pPr marL="305435" indent="-305435"/>
            <a:r>
              <a:rPr lang="en-US" dirty="0"/>
              <a:t>2. Image Processing: The application receives the uploaded image and prepares it for AI analysis.</a:t>
            </a:r>
          </a:p>
          <a:p>
            <a:pPr marL="305435" indent="-305435"/>
            <a:r>
              <a:rPr lang="en-US" dirty="0"/>
              <a:t>3. Gemini AI Analysis: The image is sent to the Gemini AI model with a prompt to identify the food item.</a:t>
            </a:r>
          </a:p>
          <a:p>
            <a:pPr marL="305435" indent="-305435"/>
            <a:r>
              <a:rPr lang="en-US" dirty="0"/>
              <a:t>4. Food Classification: Gemini analyzes the visual features of the image and predicts the most likely food category.</a:t>
            </a:r>
          </a:p>
          <a:p>
            <a:pPr marL="305435" indent="-305435"/>
            <a:r>
              <a:rPr lang="en-US" dirty="0"/>
              <a:t>5. Result Generation: The predicted food name is extracted from the AI response.</a:t>
            </a:r>
          </a:p>
          <a:p>
            <a:pPr marL="305435" indent="-305435"/>
            <a:r>
              <a:rPr lang="en-US" dirty="0"/>
              <a:t>6. Result Display: The classification result is displayed to the user through the application.</a:t>
            </a:r>
          </a:p>
          <a:p>
            <a:pPr marL="0" indent="0">
              <a:buNone/>
            </a:pPr>
            <a:r>
              <a:rPr lang="en-US" dirty="0"/>
              <a:t>Deployment</a:t>
            </a:r>
          </a:p>
          <a:p>
            <a:pPr marL="305435" indent="-305435"/>
            <a:r>
              <a:rPr lang="en-US" dirty="0"/>
              <a:t>* The application is developed using Python and </a:t>
            </a:r>
            <a:r>
              <a:rPr lang="en-US" dirty="0" err="1"/>
              <a:t>Streamlit</a:t>
            </a:r>
            <a:r>
              <a:rPr lang="en-US" dirty="0"/>
              <a:t>.</a:t>
            </a:r>
          </a:p>
          <a:p>
            <a:pPr marL="305435" indent="-305435"/>
            <a:r>
              <a:rPr lang="en-US" dirty="0"/>
              <a:t>* The Gemini API is integrated to perform AI-based image analysis.</a:t>
            </a:r>
          </a:p>
          <a:p>
            <a:pPr marL="305435" indent="-305435"/>
            <a:r>
              <a:rPr lang="en-US" dirty="0"/>
              <a:t>* The application can be deployed as a </a:t>
            </a:r>
            <a:r>
              <a:rPr lang="en-US" dirty="0" err="1"/>
              <a:t>Streamlit</a:t>
            </a:r>
            <a:r>
              <a:rPr lang="en-US" dirty="0"/>
              <a:t> web application, allowing users to upload food images and receive predictions through a browser.</a:t>
            </a:r>
          </a:p>
          <a:p>
            <a:pPr marL="305435" indent="-305435"/>
            <a:r>
              <a:rPr lang="en-US" dirty="0"/>
              <a:t>* The required libraries and dependencies are maintained in requirements.txt.</a:t>
            </a:r>
            <a:endParaRPr lang="en-IN" dirty="0"/>
          </a:p>
        </p:txBody>
      </p:sp>
    </p:spTree>
    <p:extLst>
      <p:ext uri="{BB962C8B-B14F-4D97-AF65-F5344CB8AC3E}">
        <p14:creationId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pic>
        <p:nvPicPr>
          <p:cNvPr id="4" name="Content Placeholder 3">
            <a:extLst>
              <a:ext uri="{FF2B5EF4-FFF2-40B4-BE49-F238E27FC236}">
                <a16:creationId xmlns:a16="http://schemas.microsoft.com/office/drawing/2014/main" id="{304B5ECC-DF4D-D2D6-8905-8C87A54C72FF}"/>
              </a:ext>
            </a:extLst>
          </p:cNvPr>
          <p:cNvPicPr>
            <a:picLocks noGrp="1" noChangeAspect="1"/>
          </p:cNvPicPr>
          <p:nvPr>
            <p:ph idx="1"/>
          </p:nvPr>
        </p:nvPicPr>
        <p:blipFill>
          <a:blip r:embed="rId2"/>
          <a:stretch>
            <a:fillRect/>
          </a:stretch>
        </p:blipFill>
        <p:spPr>
          <a:xfrm>
            <a:off x="214169" y="1406075"/>
            <a:ext cx="5192513" cy="2919363"/>
          </a:xfrm>
          <a:prstGeom prst="rect">
            <a:avLst/>
          </a:prstGeom>
        </p:spPr>
      </p:pic>
      <p:pic>
        <p:nvPicPr>
          <p:cNvPr id="7" name="Picture 6">
            <a:extLst>
              <a:ext uri="{FF2B5EF4-FFF2-40B4-BE49-F238E27FC236}">
                <a16:creationId xmlns:a16="http://schemas.microsoft.com/office/drawing/2014/main" id="{E3EA2D83-610A-D617-19D5-144B86D2C3E3}"/>
              </a:ext>
            </a:extLst>
          </p:cNvPr>
          <p:cNvPicPr>
            <a:picLocks noChangeAspect="1"/>
          </p:cNvPicPr>
          <p:nvPr/>
        </p:nvPicPr>
        <p:blipFill>
          <a:blip r:embed="rId3"/>
          <a:stretch>
            <a:fillRect/>
          </a:stretch>
        </p:blipFill>
        <p:spPr>
          <a:xfrm>
            <a:off x="5528670" y="1406075"/>
            <a:ext cx="6457788" cy="5107267"/>
          </a:xfrm>
          <a:prstGeom prst="rect">
            <a:avLst/>
          </a:prstGeom>
        </p:spPr>
      </p:pic>
      <p:pic>
        <p:nvPicPr>
          <p:cNvPr id="9" name="Picture 8">
            <a:extLst>
              <a:ext uri="{FF2B5EF4-FFF2-40B4-BE49-F238E27FC236}">
                <a16:creationId xmlns:a16="http://schemas.microsoft.com/office/drawing/2014/main" id="{CA37EB3C-A748-73E9-BAF5-2B65A5AE763C}"/>
              </a:ext>
            </a:extLst>
          </p:cNvPr>
          <p:cNvPicPr>
            <a:picLocks noChangeAspect="1"/>
          </p:cNvPicPr>
          <p:nvPr/>
        </p:nvPicPr>
        <p:blipFill>
          <a:blip r:embed="rId4"/>
          <a:stretch>
            <a:fillRect/>
          </a:stretch>
        </p:blipFill>
        <p:spPr>
          <a:xfrm>
            <a:off x="306377" y="4499062"/>
            <a:ext cx="5008098" cy="2815680"/>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D9BDA-C48A-6A4B-D3FF-37175CF5BDF2}"/>
              </a:ext>
            </a:extLst>
          </p:cNvPr>
          <p:cNvSpPr>
            <a:spLocks noGrp="1"/>
          </p:cNvSpPr>
          <p:nvPr>
            <p:ph type="title"/>
          </p:nvPr>
        </p:nvSpPr>
        <p:spPr/>
        <p:txBody>
          <a:bodyPr/>
          <a:lstStyle/>
          <a:p>
            <a:r>
              <a:rPr lang="en-US" dirty="0"/>
              <a:t>RESULT</a:t>
            </a:r>
          </a:p>
        </p:txBody>
      </p:sp>
      <p:pic>
        <p:nvPicPr>
          <p:cNvPr id="5" name="Content Placeholder 4">
            <a:extLst>
              <a:ext uri="{FF2B5EF4-FFF2-40B4-BE49-F238E27FC236}">
                <a16:creationId xmlns:a16="http://schemas.microsoft.com/office/drawing/2014/main" id="{8BCFC874-1B92-7659-C270-AD69DF79A338}"/>
              </a:ext>
            </a:extLst>
          </p:cNvPr>
          <p:cNvPicPr>
            <a:picLocks noGrp="1" noChangeAspect="1"/>
          </p:cNvPicPr>
          <p:nvPr>
            <p:ph idx="1"/>
          </p:nvPr>
        </p:nvPicPr>
        <p:blipFill>
          <a:blip r:embed="rId2"/>
          <a:stretch>
            <a:fillRect/>
          </a:stretch>
        </p:blipFill>
        <p:spPr>
          <a:xfrm>
            <a:off x="239151" y="1350498"/>
            <a:ext cx="6527409" cy="5507502"/>
          </a:xfrm>
          <a:prstGeom prst="rect">
            <a:avLst/>
          </a:prstGeom>
        </p:spPr>
      </p:pic>
      <p:pic>
        <p:nvPicPr>
          <p:cNvPr id="7" name="Picture 6">
            <a:extLst>
              <a:ext uri="{FF2B5EF4-FFF2-40B4-BE49-F238E27FC236}">
                <a16:creationId xmlns:a16="http://schemas.microsoft.com/office/drawing/2014/main" id="{D7D5CD23-45F3-E965-703A-809E2EC5437B}"/>
              </a:ext>
            </a:extLst>
          </p:cNvPr>
          <p:cNvPicPr>
            <a:picLocks noChangeAspect="1"/>
          </p:cNvPicPr>
          <p:nvPr/>
        </p:nvPicPr>
        <p:blipFill>
          <a:blip r:embed="rId3"/>
          <a:stretch>
            <a:fillRect/>
          </a:stretch>
        </p:blipFill>
        <p:spPr>
          <a:xfrm>
            <a:off x="6893169" y="1350498"/>
            <a:ext cx="5059680" cy="5507502"/>
          </a:xfrm>
          <a:prstGeom prst="rect">
            <a:avLst/>
          </a:prstGeom>
        </p:spPr>
      </p:pic>
    </p:spTree>
    <p:extLst>
      <p:ext uri="{BB962C8B-B14F-4D97-AF65-F5344CB8AC3E}">
        <p14:creationId xmlns:p14="http://schemas.microsoft.com/office/powerpoint/2010/main" val="1058210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US" sz="2400" dirty="0">
                <a:solidFill>
                  <a:srgbClr val="0F0F0F"/>
                </a:solidFill>
              </a:rPr>
              <a:t>The Food Image Classifier project successfully demonstrates how Generative AI can be used to identify food items from images. In this project, I uploaded a pizza image, and the model analyzed the image and correctly identified it as pizza. This project helped me understand the practical use of AI for image classification and how users can interact with an AI model through a simple application. Overall, the project shows that AI-based food recognition can be useful for applications such as food identification, restaurant systems, dietary analysis, and smart food applications.</a:t>
            </a:r>
            <a:endParaRPr lang="en-IN" sz="2400" dirty="0">
              <a:solidFill>
                <a:srgbClr val="0F0F0F"/>
              </a:solidFill>
            </a:endParaRPr>
          </a:p>
        </p:txBody>
      </p:sp>
    </p:spTree>
    <p:extLst>
      <p:ext uri="{BB962C8B-B14F-4D97-AF65-F5344CB8AC3E}">
        <p14:creationId xmlns:p14="http://schemas.microsoft.com/office/powerpoint/2010/main" val="3183315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endParaRPr lang="en-US" sz="2000" b="1" dirty="0"/>
          </a:p>
          <a:p>
            <a:pPr marL="305435" indent="-305435"/>
            <a:r>
              <a:rPr lang="en-US" sz="2000" dirty="0">
                <a:ea typeface="+mn-lt"/>
                <a:cs typeface="+mn-lt"/>
              </a:rPr>
              <a:t>. </a:t>
            </a:r>
            <a:r>
              <a:rPr lang="en-US" sz="3200" dirty="0">
                <a:ea typeface="+mn-lt"/>
                <a:cs typeface="+mn-lt"/>
              </a:rPr>
              <a:t>In the future, this system can be enhanced into an intelligent food-recognition platform with real-time identification and nutritional analysis. </a:t>
            </a:r>
            <a:endParaRPr lang="en-US" sz="3200"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lnSpcReduction="10000"/>
          </a:bodyPr>
          <a:lstStyle/>
          <a:p>
            <a:pPr marL="0" indent="0">
              <a:buNone/>
            </a:pPr>
            <a:r>
              <a:rPr lang="en-IN" sz="2400" dirty="0"/>
              <a:t>1. Google Gemini API Documentation – For understanding Gemini AI and image analysis.</a:t>
            </a:r>
          </a:p>
          <a:p>
            <a:pPr marL="0" indent="0">
              <a:buNone/>
            </a:pPr>
            <a:r>
              <a:rPr lang="en-IN" sz="2400" dirty="0"/>
              <a:t>2. Google GenAI Python SDK Documentation – For integrating Gemini with the Python application.</a:t>
            </a:r>
          </a:p>
          <a:p>
            <a:pPr marL="0" indent="0">
              <a:buNone/>
            </a:pPr>
            <a:r>
              <a:rPr lang="en-IN" sz="2400" dirty="0"/>
              <a:t>3. </a:t>
            </a:r>
            <a:r>
              <a:rPr lang="en-IN" sz="2400" dirty="0" err="1"/>
              <a:t>Streamlit</a:t>
            </a:r>
            <a:r>
              <a:rPr lang="en-IN" sz="2400" dirty="0"/>
              <a:t> Documentation – For developing and deploying the web application.</a:t>
            </a:r>
          </a:p>
          <a:p>
            <a:pPr marL="0" indent="0">
              <a:buNone/>
            </a:pPr>
            <a:r>
              <a:rPr lang="en-IN" sz="2400" dirty="0"/>
              <a:t>4. Python Documentation – For Python programming and application development.</a:t>
            </a:r>
          </a:p>
          <a:p>
            <a:pPr marL="0" indent="0">
              <a:buNone/>
            </a:pPr>
            <a:r>
              <a:rPr lang="en-IN" sz="2400" dirty="0"/>
              <a:t>5. Pillow Documentation – For image loading and processing.</a:t>
            </a:r>
          </a:p>
          <a:p>
            <a:pPr marL="0" indent="0">
              <a:buNone/>
            </a:pPr>
            <a:r>
              <a:rPr lang="en-IN" sz="2400" dirty="0"/>
              <a:t>6. GitHub Documentation – For project version control and repository management.</a:t>
            </a:r>
          </a:p>
          <a:p>
            <a:pPr marL="0" indent="0">
              <a:buNone/>
            </a:pPr>
            <a:r>
              <a:rPr lang="en-IN" sz="2400" dirty="0"/>
              <a:t>7. OpenAI ChatGPT – Used as an AI-assisted learning and development resource during project development.</a:t>
            </a:r>
          </a:p>
        </p:txBody>
      </p:sp>
    </p:spTree>
    <p:extLst>
      <p:ext uri="{BB962C8B-B14F-4D97-AF65-F5344CB8AC3E}">
        <p14:creationId xmlns:p14="http://schemas.microsoft.com/office/powerpoint/2010/main" val="728950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7422-ED9D-D856-C6AD-0F1A715C2428}"/>
              </a:ext>
            </a:extLst>
          </p:cNvPr>
          <p:cNvSpPr>
            <a:spLocks noGrp="1"/>
          </p:cNvSpPr>
          <p:nvPr>
            <p:ph type="title"/>
          </p:nvPr>
        </p:nvSpPr>
        <p:spPr/>
        <p:txBody>
          <a:bodyPr/>
          <a:lstStyle/>
          <a:p>
            <a:r>
              <a:rPr lang="en-IN"/>
              <a:t>Deployment link / </a:t>
            </a:r>
            <a:r>
              <a:rPr lang="en-IN" err="1"/>
              <a:t>github</a:t>
            </a:r>
            <a:r>
              <a:rPr lang="en-IN"/>
              <a:t> link</a:t>
            </a:r>
          </a:p>
        </p:txBody>
      </p:sp>
      <p:sp>
        <p:nvSpPr>
          <p:cNvPr id="3" name="Content Placeholder 2">
            <a:extLst>
              <a:ext uri="{FF2B5EF4-FFF2-40B4-BE49-F238E27FC236}">
                <a16:creationId xmlns:a16="http://schemas.microsoft.com/office/drawing/2014/main" id="{618C47C2-EF01-12B0-99EA-861F9629D1D9}"/>
              </a:ext>
            </a:extLst>
          </p:cNvPr>
          <p:cNvSpPr>
            <a:spLocks noGrp="1"/>
          </p:cNvSpPr>
          <p:nvPr>
            <p:ph idx="1"/>
          </p:nvPr>
        </p:nvSpPr>
        <p:spPr/>
        <p:txBody>
          <a:bodyPr/>
          <a:lstStyle/>
          <a:p>
            <a:pPr marL="305435" indent="-305435"/>
            <a:r>
              <a:rPr lang="en-IN" sz="2400" dirty="0" err="1"/>
              <a:t>Github</a:t>
            </a:r>
            <a:r>
              <a:rPr lang="en-IN" sz="2400" dirty="0"/>
              <a:t> Link: </a:t>
            </a:r>
            <a:r>
              <a:rPr lang="en-IN" sz="2400" dirty="0">
                <a:hlinkClick r:id="rId2"/>
              </a:rPr>
              <a:t>https://github.com/rakshitathakre26-lgtm/food-image-classifier.git</a:t>
            </a:r>
            <a:endParaRPr lang="en-IN" sz="2400" dirty="0"/>
          </a:p>
          <a:p>
            <a:pPr marL="305435" indent="-305435"/>
            <a:r>
              <a:rPr lang="en-IN" sz="2400" dirty="0"/>
              <a:t>Deployment: HF, </a:t>
            </a:r>
            <a:r>
              <a:rPr lang="en-IN" sz="2400" dirty="0" err="1"/>
              <a:t>Streamlit</a:t>
            </a:r>
            <a:r>
              <a:rPr lang="en-IN" sz="2400" dirty="0"/>
              <a:t> Link, </a:t>
            </a:r>
            <a:r>
              <a:rPr lang="en-IN" sz="2400" dirty="0" err="1"/>
              <a:t>Gradio</a:t>
            </a:r>
            <a:r>
              <a:rPr lang="en-IN" sz="2400" dirty="0"/>
              <a:t> (OPTIONAL)</a:t>
            </a:r>
          </a:p>
          <a:p>
            <a:pPr marL="305435" indent="-305435"/>
            <a:r>
              <a:rPr lang="en-IN" sz="2400" dirty="0" err="1">
                <a:hlinkClick r:id="rId3"/>
              </a:rPr>
              <a:t>Streamlit</a:t>
            </a:r>
            <a:endParaRPr lang="en-IN" sz="2400" dirty="0"/>
          </a:p>
          <a:p>
            <a:pPr marL="305435" indent="-305435"/>
            <a:endParaRPr lang="en-US" dirty="0"/>
          </a:p>
          <a:p>
            <a:pPr marL="305435" indent="-305435"/>
            <a:endParaRPr lang="en-IN" dirty="0"/>
          </a:p>
          <a:p>
            <a:pPr marL="0" indent="0">
              <a:buNone/>
            </a:pPr>
            <a:endParaRPr lang="en-IN" dirty="0"/>
          </a:p>
        </p:txBody>
      </p:sp>
    </p:spTree>
    <p:extLst>
      <p:ext uri="{BB962C8B-B14F-4D97-AF65-F5344CB8AC3E}">
        <p14:creationId xmlns:p14="http://schemas.microsoft.com/office/powerpoint/2010/main" val="258852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3918</TotalTime>
  <Words>859</Words>
  <Application>Microsoft Office PowerPoint</Application>
  <PresentationFormat>Widescreen</PresentationFormat>
  <Paragraphs>81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Franklin Gothic Book</vt:lpstr>
      <vt:lpstr>Franklin Gothic Demi</vt:lpstr>
      <vt:lpstr>Wingdings 2</vt:lpstr>
      <vt:lpstr>DividendVTI</vt:lpstr>
      <vt:lpstr>Food Image Classification Using Generative AI</vt:lpstr>
      <vt:lpstr>OUTLINE</vt:lpstr>
      <vt:lpstr>Problem Statement</vt:lpstr>
      <vt:lpstr>Proposed Solution</vt:lpstr>
      <vt:lpstr>System  Approach</vt:lpstr>
      <vt:lpstr> technology used</vt:lpstr>
      <vt:lpstr>Algorithm &amp; Deployment</vt:lpstr>
      <vt:lpstr>Result</vt:lpstr>
      <vt:lpstr>RESULT</vt:lpstr>
      <vt:lpstr>Conclusion</vt:lpstr>
      <vt:lpstr>PowerPoint Presentation</vt:lpstr>
      <vt:lpstr>References</vt:lpstr>
      <vt:lpstr>Deployment link / 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Rakshita Thakre</cp:lastModifiedBy>
  <cp:revision>5</cp:revision>
  <dcterms:created xsi:type="dcterms:W3CDTF">2021-05-26T16:50:10Z</dcterms:created>
  <dcterms:modified xsi:type="dcterms:W3CDTF">2026-09-09T12:34:34Z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